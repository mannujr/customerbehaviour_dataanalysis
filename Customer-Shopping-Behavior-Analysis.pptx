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086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7337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Customer Insights using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Python, SQL &amp; Power BI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188420"/>
            <a:ext cx="6296860" cy="460970"/>
          </a:xfrm>
          <a:prstGeom prst="roundRect">
            <a:avLst>
              <a:gd name="adj" fmla="val 1377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79" y="4245074"/>
            <a:ext cx="6070051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CUSTOMER_SHOPPING_BEHAVIOR.CSV · 3,900 RECORDS · 18 ATTRIBUTES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Turning 3,900 Transactions into Actionable Retail Insights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56766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7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$233K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61475" y="1351260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1527175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3,900 transactions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125315" y="956766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7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125315" y="1351260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5315" y="1527175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transaction average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1475" y="1782266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7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3.75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661475" y="2176760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1475" y="2352675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5 stars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25315" y="1782266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7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3.9K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6125315" y="2176760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5315" y="2352675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dataset analyzed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19164"/>
            <a:ext cx="10868745" cy="48909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98699" y="2781088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2298699" y="3158624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&amp; EDA of raw transactions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179801" y="6449329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4179801" y="6826865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and aggregations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040002" y="2744510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6040002" y="3122046"/>
            <a:ext cx="1902003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921104" y="6302365"/>
            <a:ext cx="1902004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7921104" y="6973830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business insights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61475" y="746323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analysis connecting raw transactional data to retention, pricing, and merchandising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6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Business Question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1964928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do customer demographics, shopping preferences, and engagement behaviors influence purchase value and retention — and where should marketing focus its budget?"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752302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9950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290888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43614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&amp; Standardize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844826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raw data for reliable analysis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9950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3290888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4347359" y="343614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 Behavioral Features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47359" y="384482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age groups, loyalty tiers, and frequency metrics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9950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3290888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244" y="3436144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Answer 10 Business Questions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33244" y="384482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queries with CTEs and window functions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78035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076230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22148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Power BI Dashboard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563016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Interactive, stakeholder-facing insights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90301" y="478035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0301" y="5076230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301" y="522148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Translate to Action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190301" y="563016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recommendations for retention and pricing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&amp; Analytics Workflow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0415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06663"/>
            <a:ext cx="5315512" cy="507405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rows × 18 columns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one row per transaction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product category, purchase amount, shipping, discounts, subscription, review rating, purchase history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37 missing values (0.9%), all in Review Rating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870523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948609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939977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was chosen to preserve business meaning — not just remove missing data.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76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10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Raw Data to Analysis-Ready Data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52811"/>
            <a:ext cx="6918350" cy="39204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4074" y="1468438"/>
            <a:ext cx="1903563" cy="260152"/>
          </a:xfrm>
          <a:prstGeom prst="roundRect">
            <a:avLst>
              <a:gd name="adj" fmla="val 22124"/>
            </a:avLst>
          </a:prstGeom>
          <a:solidFill>
            <a:srgbClr val="DADBF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763" y="1529953"/>
            <a:ext cx="137018" cy="1370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12240" y="1519734"/>
            <a:ext cx="210229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PREPARATION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004074" y="1790601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Cleaning Steps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004074" y="2213372"/>
            <a:ext cx="3532397" cy="173027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37 ratings using category-level median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column names for consistency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duplicate discount column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cleaned data into PostgreSQL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004074" y="4118273"/>
            <a:ext cx="1914378" cy="260152"/>
          </a:xfrm>
          <a:prstGeom prst="roundRect">
            <a:avLst>
              <a:gd name="adj" fmla="val 22124"/>
            </a:avLst>
          </a:prstGeom>
          <a:solidFill>
            <a:srgbClr val="DADBF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763" y="4179788"/>
            <a:ext cx="137018" cy="137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12240" y="4169569"/>
            <a:ext cx="2113108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004074" y="4440436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Behavioral Features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004074" y="4863207"/>
            <a:ext cx="3532397" cy="1414760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 Groups: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Young Adult, Adult, Middle-aged, Senior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Frequency: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 → numeric days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Tiers: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New, Returning, Loyal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613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7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Does the Transaction Data Tell Us?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83580"/>
            <a:ext cx="5290311" cy="3808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6259" y="1174353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Gender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246259" y="1432719"/>
            <a:ext cx="589989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$157,890</a:t>
            </a:r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more than double female revenue of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$75,191</a:t>
            </a:r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61475" y="5157688"/>
            <a:ext cx="3573671" cy="643930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2242" y="5288459"/>
            <a:ext cx="33121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Users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2242" y="5517257"/>
            <a:ext cx="33121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customers with above-average spend despite discounts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08963" y="5157688"/>
            <a:ext cx="3573671" cy="643930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9730" y="5288459"/>
            <a:ext cx="33121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Speed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439730" y="5517257"/>
            <a:ext cx="33121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AOV: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$58.46</a:t>
            </a:r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Express AOV: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$60.48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956450" y="5157688"/>
            <a:ext cx="3573671" cy="643930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87217" y="5288459"/>
            <a:ext cx="33121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87217" y="5517257"/>
            <a:ext cx="33121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Subscribers: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$59.49</a:t>
            </a:r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Non-subscribers: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$59.87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1475" y="5884664"/>
            <a:ext cx="10868745" cy="352723"/>
          </a:xfrm>
          <a:prstGeom prst="roundRect">
            <a:avLst>
              <a:gd name="adj" fmla="val 14067"/>
            </a:avLst>
          </a:prstGeom>
          <a:solidFill>
            <a:srgbClr val="DADB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2" y="5992515"/>
            <a:ext cx="147634" cy="1180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5243" y="5987951"/>
            <a:ext cx="109764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 What?</a:t>
            </a:r>
            <a:pPr algn="l" indent="0" marL="0">
              <a:lnSpc>
                <a:spcPct val="108000"/>
              </a:lnSpc>
              <a:buNone/>
            </a:pPr>
            <a:r>
              <a:rPr lang="en-US" sz="90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Discounts, shipping speed, and subscription status show surprisingly weak differences in spending.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Behavioral Patterns Matter More Than Demographics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5319083" cy="3828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Loyalty Distribution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7487" y="1128018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94% of customers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in the Loyal segment — a retention-driven base. New customers represent just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2.1%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signaling an acquisition gap.</a:t>
            </a:r>
            <a:endParaRPr lang="en-US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927005"/>
            <a:ext cx="5319083" cy="3828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487" y="492115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Ratings vs. Discount Depth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217487" y="5116016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Highest-discounted products (Hat 50%, Sneakers 49.7%, Coat 49.1%) are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highest-rated — discount strategy may not align with customer satisfaction.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661475" y="8861921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ADBF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8932763"/>
            <a:ext cx="118067" cy="94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450" y="8932763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 What?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Age-group revenue is flat (~$56K–$62K per group). Behavioral signals outperform demographics for segmentation.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7209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SQL Analysis to Interactive Decision-Making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661475" y="885924"/>
            <a:ext cx="6296860" cy="821630"/>
          </a:xfrm>
          <a:prstGeom prst="roundRect">
            <a:avLst>
              <a:gd name="adj" fmla="val 48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2279" y="986730"/>
            <a:ext cx="283461" cy="28346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263" y="1064716"/>
            <a:ext cx="127493" cy="1274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2279" y="1317427"/>
            <a:ext cx="60952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$233K Revenue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62279" y="1493341"/>
            <a:ext cx="60952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across all transactions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661475" y="1754783"/>
            <a:ext cx="6296860" cy="821630"/>
          </a:xfrm>
          <a:prstGeom prst="roundRect">
            <a:avLst>
              <a:gd name="adj" fmla="val 48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2279" y="1855589"/>
            <a:ext cx="283461" cy="28346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263" y="1933575"/>
            <a:ext cx="127493" cy="1274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2279" y="2186285"/>
            <a:ext cx="60952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 AOV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62279" y="2362200"/>
            <a:ext cx="60952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order value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661475" y="2623641"/>
            <a:ext cx="6296860" cy="821630"/>
          </a:xfrm>
          <a:prstGeom prst="roundRect">
            <a:avLst>
              <a:gd name="adj" fmla="val 48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62279" y="2724448"/>
            <a:ext cx="283461" cy="28346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63" y="2802434"/>
            <a:ext cx="127493" cy="1274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2279" y="3055144"/>
            <a:ext cx="60952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Customers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62279" y="3231059"/>
            <a:ext cx="60952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transactions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661475" y="3492500"/>
            <a:ext cx="6296860" cy="821630"/>
          </a:xfrm>
          <a:prstGeom prst="roundRect">
            <a:avLst>
              <a:gd name="adj" fmla="val 48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2279" y="3593306"/>
            <a:ext cx="283461" cy="28346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263" y="3671292"/>
            <a:ext cx="127493" cy="1274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2279" y="3924002"/>
            <a:ext cx="60952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3.75 Avg Rating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62279" y="4099917"/>
            <a:ext cx="60952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5 stars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661475" y="4367213"/>
            <a:ext cx="6296860" cy="503634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68628" y="4474369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Views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768628" y="4650284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Gender · Category · Age Group</a:t>
            </a:r>
            <a:endParaRPr lang="en-US" sz="700" dirty="0"/>
          </a:p>
        </p:txBody>
      </p:sp>
      <p:sp>
        <p:nvSpPr>
          <p:cNvPr id="27" name="Shape 20"/>
          <p:cNvSpPr/>
          <p:nvPr/>
        </p:nvSpPr>
        <p:spPr>
          <a:xfrm>
            <a:off x="661475" y="4918075"/>
            <a:ext cx="6296860" cy="503634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68628" y="5025231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Analysis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68628" y="5201146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· Subscription · Shipping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661475" y="5468938"/>
            <a:ext cx="6296860" cy="503634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68628" y="5576094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&amp; Segmentation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68628" y="5752009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by product · Customer tiers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661475" y="6019800"/>
            <a:ext cx="6296860" cy="503634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68628" y="6126956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Slicers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68628" y="6302871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· Gender · Season · Shipping Type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661475" y="6576516"/>
            <a:ext cx="6906444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transforms the SQL analysis into an interactive stakeholder-facing experience.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753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Should the Business Do Next?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27533" y="1420912"/>
            <a:ext cx="5475349" cy="3930253"/>
          </a:xfrm>
          <a:prstGeom prst="roundRect">
            <a:avLst>
              <a:gd name="adj" fmla="val 3409"/>
            </a:avLst>
          </a:prstGeom>
          <a:solidFill>
            <a:srgbClr val="1D1D1B"/>
          </a:solidFill>
          <a:ln/>
        </p:spPr>
      </p:sp>
      <p:sp>
        <p:nvSpPr>
          <p:cNvPr id="4" name="Text 2"/>
          <p:cNvSpPr/>
          <p:nvPr/>
        </p:nvSpPr>
        <p:spPr>
          <a:xfrm>
            <a:off x="713563" y="1604070"/>
            <a:ext cx="510328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563" y="2077938"/>
            <a:ext cx="5103288" cy="2092127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users still spend above average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barely changes average spend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adds minimal spend lift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 of customers are Loyal — acquisition is thin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is flat across age groups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Highest-discounted products aren't highest-rated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29105" y="1604070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9105" y="2077938"/>
            <a:ext cx="5207465" cy="3209131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Re-evaluate blanket discounting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target high-intent shoppers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Incentivize loyal non-subscribers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personalized offers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 in new-customer acquisition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reduce concentration risk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ratings to guide inventory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stock higher-rated products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 segmentation to behavioral data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demographics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5557143"/>
            <a:ext cx="10868745" cy="736104"/>
          </a:xfrm>
          <a:prstGeom prst="roundRect">
            <a:avLst>
              <a:gd name="adj" fmla="val 10616"/>
            </a:avLst>
          </a:prstGeom>
          <a:solidFill>
            <a:srgbClr val="DADB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505" y="5820767"/>
            <a:ext cx="232563" cy="1860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6099" y="5786735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spc="-2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 What?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 marketing investment on customer behavior, not broad demographic assumptions.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3,900 Transactions to Business Strategy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17146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CSV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54899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3,900 transaction records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839703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Cleaning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217240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dedupe, and normalize data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987920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659385"/>
            <a:ext cx="1902003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retention and pricing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839703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Analysis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217240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in PostgreSQL and query insights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3156" y="5906691"/>
            <a:ext cx="1133664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"Turning 3,900 raw transactions into a data-backed retention and pricing strategy."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61475" y="5853609"/>
            <a:ext cx="12700" cy="219571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617349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Portfolio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1475" y="6368355"/>
            <a:ext cx="5319083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GitHub: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github.com/mannujr/customerBehaviour_dataAnalysis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code, SQL queries, and Power BI report available for review.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149424" y="6126262"/>
            <a:ext cx="5455208" cy="891480"/>
          </a:xfrm>
          <a:prstGeom prst="roundRect">
            <a:avLst>
              <a:gd name="adj" fmla="val 7633"/>
            </a:avLst>
          </a:prstGeom>
          <a:solidFill>
            <a:srgbClr val="1D1D1B"/>
          </a:solidFill>
          <a:ln/>
        </p:spPr>
      </p:sp>
      <p:sp>
        <p:nvSpPr>
          <p:cNvPr id="17" name="Text 14"/>
          <p:cNvSpPr/>
          <p:nvPr/>
        </p:nvSpPr>
        <p:spPr>
          <a:xfrm>
            <a:off x="6243878" y="6173490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This Project Demonstrates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43878" y="6368355"/>
            <a:ext cx="5266300" cy="632916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analytics execution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data preparation &amp; feature engineering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business analysis with CTEs &amp; window functions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 design for stakeholders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data findings into business actions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2026-08-25T02:17:04Z</dcterms:created>
  <dcterms:modified xsi:type="dcterms:W3CDTF">2026-08-25T02:17:04Z</dcterms:modified>
</cp:coreProperties>
</file>